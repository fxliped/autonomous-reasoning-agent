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  <p:sldMasterId id="214748365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y="5143500" cx="9144000"/>
  <p:notesSz cx="6858000" cy="9144000"/>
  <p:embeddedFontLst>
    <p:embeddedFont>
      <p:font typeface="Helvetica Neue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r:id="rId26" roundtripDataSignature="AMtx7mj9mefYcaHgRsTj2qcEtCntC9P0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F2B8681-C8F2-438D-9F9F-6BE99E037E06}">
  <a:tblStyle styleId="{8F2B8681-C8F2-438D-9F9F-6BE99E037E0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font" Target="fonts/HelveticaNeue-regular.fntdata"/><Relationship Id="rId21" Type="http://schemas.openxmlformats.org/officeDocument/2006/relationships/slide" Target="slides/slide14.xml"/><Relationship Id="rId24" Type="http://schemas.openxmlformats.org/officeDocument/2006/relationships/font" Target="fonts/HelveticaNeue-italic.fntdata"/><Relationship Id="rId23" Type="http://schemas.openxmlformats.org/officeDocument/2006/relationships/font" Target="fonts/HelveticaNeue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customschemas.google.com/relationships/presentationmetadata" Target="metadata"/><Relationship Id="rId25" Type="http://schemas.openxmlformats.org/officeDocument/2006/relationships/font" Target="fonts/HelveticaNeue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e6bc1b5637_2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g3e6bc1b5637_2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g3e6bc1b5637_2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e6bc1b5637_2_2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g3e6bc1b5637_2_2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g3e6bc1b5637_2_2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e6cb00af7a_0_3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g3e6cb00af7a_0_3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" name="Google Shape;74;g3e6cb00af7a_0_3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af6a7411b_0_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" name="Google Shape;85;g3daf6a7411b_0_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af6a7411b_0_2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3daf6a7411b_0_25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daf6a7411b_0_25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6bc1b5637_7_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g3e6bc1b5637_7_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e6bc1b5637_7_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6cb00af7a_0_2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3e6cb00af7a_0_2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e6cb00af7a_0_2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6bc1b5637_0_7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e6bc1b5637_0_7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e6bc1b5637_0_7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6d204e033_1_1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e6d204e033_1_1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g3e6d204e033_1_1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daf5c64f8d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g3daf5c64f8d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g3daf5c64f8d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e6ebc45ebb_2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e6ebc45ebb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e6bc1b5637_0_11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3e6bc1b5637_0_11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e6bc1b5637_0_11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e6ebc45ebb_2_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e6ebc45ebb_2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4" name="Google Shape;24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w/table">
  <p:cSld name="Header w/tab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e6bc1b5637_0_21"/>
          <p:cNvSpPr txBox="1"/>
          <p:nvPr>
            <p:ph idx="10" type="dt"/>
          </p:nvPr>
        </p:nvSpPr>
        <p:spPr>
          <a:xfrm>
            <a:off x="7407534" y="4754880"/>
            <a:ext cx="941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lv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g3e6bc1b5637_0_21"/>
          <p:cNvSpPr txBox="1"/>
          <p:nvPr>
            <p:ph idx="12" type="sldNum"/>
          </p:nvPr>
        </p:nvSpPr>
        <p:spPr>
          <a:xfrm>
            <a:off x="8686800" y="4754880"/>
            <a:ext cx="4572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" name="Google Shape;14;g3e6bc1b5637_0_21"/>
          <p:cNvSpPr txBox="1"/>
          <p:nvPr>
            <p:ph type="title"/>
          </p:nvPr>
        </p:nvSpPr>
        <p:spPr>
          <a:xfrm>
            <a:off x="640079" y="367401"/>
            <a:ext cx="77724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3e6bc1b5637_0_21"/>
          <p:cNvSpPr/>
          <p:nvPr>
            <p:ph idx="2" type="tbl"/>
          </p:nvPr>
        </p:nvSpPr>
        <p:spPr>
          <a:xfrm>
            <a:off x="1097280" y="1188720"/>
            <a:ext cx="6400800" cy="3108900"/>
          </a:xfrm>
          <a:prstGeom prst="rect">
            <a:avLst/>
          </a:prstGeom>
          <a:solidFill>
            <a:srgbClr val="DBE7F5"/>
          </a:solidFill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50"/>
              <a:buFont typeface="Helvetica Neue"/>
              <a:buNone/>
              <a:defRPr b="0" i="0" sz="135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6" name="Google Shape;16;g3e6bc1b5637_0_21"/>
          <p:cNvSpPr txBox="1"/>
          <p:nvPr>
            <p:ph idx="1" type="body"/>
          </p:nvPr>
        </p:nvSpPr>
        <p:spPr>
          <a:xfrm>
            <a:off x="7739809" y="1188720"/>
            <a:ext cx="947100" cy="13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FC28FC"/>
              </a:buClr>
              <a:buSzPts val="800"/>
              <a:buNone/>
              <a:defRPr b="0" sz="800">
                <a:solidFill>
                  <a:srgbClr val="FC28FC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FF0000"/>
              </a:buClr>
              <a:buSzPts val="1400"/>
              <a:buNone/>
              <a:defRPr>
                <a:solidFill>
                  <a:srgbClr val="FF0000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FF0000"/>
              </a:buClr>
              <a:buSzPts val="1400"/>
              <a:buNone/>
              <a:defRPr>
                <a:solidFill>
                  <a:srgbClr val="FF0000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FF0000"/>
              </a:buClr>
              <a:buSzPts val="1400"/>
              <a:buNone/>
              <a:defRPr>
                <a:solidFill>
                  <a:srgbClr val="FF0000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FF0000"/>
              </a:buClr>
              <a:buSzPts val="1400"/>
              <a:buNone/>
              <a:defRPr>
                <a:solidFill>
                  <a:srgbClr val="FF0000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Thank You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e6bc1b5637_0_27"/>
          <p:cNvSpPr/>
          <p:nvPr/>
        </p:nvSpPr>
        <p:spPr>
          <a:xfrm>
            <a:off x="0" y="0"/>
            <a:ext cx="9144000" cy="457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" name="Google Shape;19;g3e6bc1b5637_0_27"/>
          <p:cNvSpPr txBox="1"/>
          <p:nvPr>
            <p:ph idx="10" type="dt"/>
          </p:nvPr>
        </p:nvSpPr>
        <p:spPr>
          <a:xfrm>
            <a:off x="7407534" y="4754880"/>
            <a:ext cx="941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lv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g3e6bc1b5637_0_27"/>
          <p:cNvSpPr txBox="1"/>
          <p:nvPr>
            <p:ph idx="12" type="sldNum"/>
          </p:nvPr>
        </p:nvSpPr>
        <p:spPr>
          <a:xfrm>
            <a:off x="8686800" y="4754880"/>
            <a:ext cx="4572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" name="Google Shape;21;g3e6bc1b5637_0_27"/>
          <p:cNvSpPr txBox="1"/>
          <p:nvPr/>
        </p:nvSpPr>
        <p:spPr>
          <a:xfrm>
            <a:off x="640080" y="1874520"/>
            <a:ext cx="7772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g3e6bc1b5637_0_27"/>
          <p:cNvSpPr/>
          <p:nvPr/>
        </p:nvSpPr>
        <p:spPr>
          <a:xfrm>
            <a:off x="640080" y="2468880"/>
            <a:ext cx="7772400" cy="36600"/>
          </a:xfrm>
          <a:prstGeom prst="rect">
            <a:avLst/>
          </a:prstGeom>
          <a:solidFill>
            <a:srgbClr val="2C75A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" name="Google Shape;23;g3e6bc1b5637_0_27"/>
          <p:cNvSpPr txBox="1"/>
          <p:nvPr/>
        </p:nvSpPr>
        <p:spPr>
          <a:xfrm>
            <a:off x="640080" y="1874520"/>
            <a:ext cx="7772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g3e6bc1b5637_0_27"/>
          <p:cNvSpPr txBox="1"/>
          <p:nvPr/>
        </p:nvSpPr>
        <p:spPr>
          <a:xfrm>
            <a:off x="640080" y="1874520"/>
            <a:ext cx="7772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w/table">
  <p:cSld name="Header w/table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e6d204e033_1_2"/>
          <p:cNvSpPr txBox="1"/>
          <p:nvPr>
            <p:ph idx="10" type="dt"/>
          </p:nvPr>
        </p:nvSpPr>
        <p:spPr>
          <a:xfrm>
            <a:off x="7407534" y="4754880"/>
            <a:ext cx="941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g3e6d204e033_1_2"/>
          <p:cNvSpPr txBox="1"/>
          <p:nvPr>
            <p:ph idx="12" type="sldNum"/>
          </p:nvPr>
        </p:nvSpPr>
        <p:spPr>
          <a:xfrm>
            <a:off x="8686800" y="4754880"/>
            <a:ext cx="4572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" name="Google Shape;30;g3e6d204e033_1_2"/>
          <p:cNvSpPr txBox="1"/>
          <p:nvPr>
            <p:ph type="title"/>
          </p:nvPr>
        </p:nvSpPr>
        <p:spPr>
          <a:xfrm>
            <a:off x="640079" y="367401"/>
            <a:ext cx="77724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g3e6d204e033_1_2"/>
          <p:cNvSpPr/>
          <p:nvPr>
            <p:ph idx="2" type="tbl"/>
          </p:nvPr>
        </p:nvSpPr>
        <p:spPr>
          <a:xfrm>
            <a:off x="1097280" y="1188720"/>
            <a:ext cx="6400800" cy="3108900"/>
          </a:xfrm>
          <a:prstGeom prst="rect">
            <a:avLst/>
          </a:prstGeom>
          <a:solidFill>
            <a:srgbClr val="DBE7F5"/>
          </a:solidFill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50"/>
              <a:buFont typeface="Helvetica Neue"/>
              <a:buNone/>
              <a:defRPr b="0" i="0" sz="135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2" name="Google Shape;32;g3e6d204e033_1_2"/>
          <p:cNvSpPr txBox="1"/>
          <p:nvPr>
            <p:ph idx="1" type="body"/>
          </p:nvPr>
        </p:nvSpPr>
        <p:spPr>
          <a:xfrm>
            <a:off x="7739809" y="1188720"/>
            <a:ext cx="947100" cy="13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FC28FC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C28F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Thank You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e6d204e033_1_8"/>
          <p:cNvSpPr/>
          <p:nvPr/>
        </p:nvSpPr>
        <p:spPr>
          <a:xfrm>
            <a:off x="0" y="0"/>
            <a:ext cx="9144000" cy="457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" name="Google Shape;35;g3e6d204e033_1_8"/>
          <p:cNvSpPr txBox="1"/>
          <p:nvPr>
            <p:ph idx="10" type="dt"/>
          </p:nvPr>
        </p:nvSpPr>
        <p:spPr>
          <a:xfrm>
            <a:off x="7407534" y="4754880"/>
            <a:ext cx="941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g3e6d204e033_1_8"/>
          <p:cNvSpPr txBox="1"/>
          <p:nvPr>
            <p:ph idx="12" type="sldNum"/>
          </p:nvPr>
        </p:nvSpPr>
        <p:spPr>
          <a:xfrm>
            <a:off x="8686800" y="4754880"/>
            <a:ext cx="4572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" name="Google Shape;37;g3e6d204e033_1_8"/>
          <p:cNvSpPr txBox="1"/>
          <p:nvPr/>
        </p:nvSpPr>
        <p:spPr>
          <a:xfrm>
            <a:off x="640080" y="1874520"/>
            <a:ext cx="7772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g3e6d204e033_1_8"/>
          <p:cNvSpPr/>
          <p:nvPr/>
        </p:nvSpPr>
        <p:spPr>
          <a:xfrm>
            <a:off x="640080" y="2468880"/>
            <a:ext cx="7772400" cy="36600"/>
          </a:xfrm>
          <a:prstGeom prst="rect">
            <a:avLst/>
          </a:prstGeom>
          <a:solidFill>
            <a:srgbClr val="2C75A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9" name="Google Shape;39;g3e6d204e033_1_8"/>
          <p:cNvSpPr txBox="1"/>
          <p:nvPr/>
        </p:nvSpPr>
        <p:spPr>
          <a:xfrm>
            <a:off x="640080" y="1874520"/>
            <a:ext cx="7772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g3e6d204e033_1_8"/>
          <p:cNvSpPr txBox="1"/>
          <p:nvPr/>
        </p:nvSpPr>
        <p:spPr>
          <a:xfrm>
            <a:off x="640080" y="1874520"/>
            <a:ext cx="7772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1"/>
    <p:sldLayoutId id="2147483654" r:id="rId2"/>
    <p:sldLayoutId id="2147483655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github.com/SLAMPAI/game_reasoning_arena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github.com/SLAMPAI/game_reasoning_arena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e6bc1b5637_2_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g3e6bc1b5637_2_2"/>
          <p:cNvSpPr/>
          <p:nvPr/>
        </p:nvSpPr>
        <p:spPr>
          <a:xfrm>
            <a:off x="457200" y="10058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STATS C163 / C263 - </a:t>
            </a:r>
            <a:r>
              <a:rPr b="1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Team </a:t>
            </a:r>
            <a:r>
              <a:rPr b="1" lang="en-US" sz="12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Secret Agents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g3e6bc1b5637_2_2"/>
          <p:cNvSpPr/>
          <p:nvPr/>
        </p:nvSpPr>
        <p:spPr>
          <a:xfrm>
            <a:off x="457200" y="1417320"/>
            <a:ext cx="82296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Autonomous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Reasoning Agent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g3e6bc1b5637_2_2"/>
          <p:cNvSpPr/>
          <p:nvPr/>
        </p:nvSpPr>
        <p:spPr>
          <a:xfrm>
            <a:off x="457200" y="3154680"/>
            <a:ext cx="6858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 ReAct-based game-playing agent with reflection memory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and reasoning error localization</a:t>
            </a:r>
            <a:endParaRPr sz="160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g3e6bc1b5637_2_2"/>
          <p:cNvSpPr/>
          <p:nvPr/>
        </p:nvSpPr>
        <p:spPr>
          <a:xfrm>
            <a:off x="6217920" y="3273552"/>
            <a:ext cx="868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g3e6bc1b5637_2_2"/>
          <p:cNvSpPr/>
          <p:nvPr/>
        </p:nvSpPr>
        <p:spPr>
          <a:xfrm>
            <a:off x="7178040" y="3273552"/>
            <a:ext cx="868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g3e6bc1b5637_2_2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Group: </a:t>
            </a:r>
            <a:r>
              <a:rPr b="1" lang="en-US" sz="1000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Warren Wu, Felipe Duenas, Sarthak Mohindru, Sayalee Damle</a:t>
            </a:r>
            <a:r>
              <a:rPr b="0" i="0" lang="en-US" sz="10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e6bc1b5637_2_21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g3e6bc1b5637_2_21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g3e6bc1b5637_2_21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What We Built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g3e6bc1b5637_2_21"/>
          <p:cNvSpPr/>
          <p:nvPr/>
        </p:nvSpPr>
        <p:spPr>
          <a:xfrm>
            <a:off x="365760" y="1371600"/>
            <a:ext cx="2697480" cy="3200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g3e6bc1b5637_2_21"/>
          <p:cNvSpPr/>
          <p:nvPr/>
        </p:nvSpPr>
        <p:spPr>
          <a:xfrm>
            <a:off x="502920" y="1508760"/>
            <a:ext cx="2423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General Purpose Reasoning Agent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g3e6bc1b5637_2_21"/>
          <p:cNvSpPr/>
          <p:nvPr/>
        </p:nvSpPr>
        <p:spPr>
          <a:xfrm>
            <a:off x="3200413" y="1371600"/>
            <a:ext cx="2697600" cy="3200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3e6bc1b5637_2_21"/>
          <p:cNvSpPr/>
          <p:nvPr/>
        </p:nvSpPr>
        <p:spPr>
          <a:xfrm>
            <a:off x="3422623" y="1439310"/>
            <a:ext cx="2423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Reflection Memory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g3e6bc1b5637_2_21"/>
          <p:cNvSpPr/>
          <p:nvPr/>
        </p:nvSpPr>
        <p:spPr>
          <a:xfrm>
            <a:off x="3337560" y="2651760"/>
            <a:ext cx="24231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g3e6bc1b5637_2_21"/>
          <p:cNvSpPr/>
          <p:nvPr/>
        </p:nvSpPr>
        <p:spPr>
          <a:xfrm>
            <a:off x="6035040" y="1371600"/>
            <a:ext cx="2697480" cy="3200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g3e6bc1b5637_2_21"/>
          <p:cNvSpPr/>
          <p:nvPr/>
        </p:nvSpPr>
        <p:spPr>
          <a:xfrm>
            <a:off x="6205100" y="1452260"/>
            <a:ext cx="2423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Adapted Error Localization Framework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g3e6bc1b5637_2_21"/>
          <p:cNvSpPr txBox="1"/>
          <p:nvPr/>
        </p:nvSpPr>
        <p:spPr>
          <a:xfrm>
            <a:off x="548175" y="2034125"/>
            <a:ext cx="2200500" cy="22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05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Built on the Reasoning + Action                          </a:t>
            </a:r>
            <a:r>
              <a:rPr lang="en-US" sz="105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      </a:t>
            </a:r>
            <a:r>
              <a:rPr lang="en-US" sz="105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(ReAct) framework. Thought -&gt; Action -&gt; Observation -&gt; Decision</a:t>
            </a:r>
            <a:endParaRPr sz="1050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n-US" sz="105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Same agent brain across all games – only the game class changes</a:t>
            </a:r>
            <a:endParaRPr sz="1050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05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Tested on Prisoner's Dilemma,  Hunger Games, and Are You the Traitor?</a:t>
            </a:r>
            <a:endParaRPr sz="1050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05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Every step logged as structured JSON - making reasoning fully auditable</a:t>
            </a:r>
            <a:endParaRPr sz="900">
              <a:solidFill>
                <a:srgbClr val="0B5394"/>
              </a:solidFill>
            </a:endParaRPr>
          </a:p>
        </p:txBody>
      </p:sp>
      <p:sp>
        <p:nvSpPr>
          <p:cNvPr id="69" name="Google Shape;69;g3e6bc1b5637_2_21"/>
          <p:cNvSpPr txBox="1"/>
          <p:nvPr/>
        </p:nvSpPr>
        <p:spPr>
          <a:xfrm>
            <a:off x="6205088" y="2034125"/>
            <a:ext cx="2200500" cy="22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05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Adapted</a:t>
            </a:r>
            <a:r>
              <a:rPr lang="en-US" sz="105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 Xiaofeng's Tracer tool for reasoning-level errors</a:t>
            </a:r>
            <a:endParaRPr sz="1050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105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An LLM judge audits the full reasoning trace after each game</a:t>
            </a:r>
            <a:endParaRPr sz="1050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50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105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 L</a:t>
            </a:r>
            <a:r>
              <a:rPr lang="en-US" sz="105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ocalizes failures by round, step, and category -&gt; suggests targeted fixes</a:t>
            </a:r>
            <a:endParaRPr sz="1050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05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Lesson is written to persistent memory – agent plays measurably better next game</a:t>
            </a:r>
            <a:endParaRPr sz="1050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g3e6bc1b5637_2_21"/>
          <p:cNvSpPr txBox="1"/>
          <p:nvPr/>
        </p:nvSpPr>
        <p:spPr>
          <a:xfrm>
            <a:off x="3337538" y="2034125"/>
            <a:ext cx="2200500" cy="22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Two</a:t>
            </a:r>
            <a:r>
              <a:rPr lang="en-US" sz="105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 memory layers: </a:t>
            </a:r>
            <a:endParaRPr sz="1050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05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Within-game memory:</a:t>
            </a:r>
            <a:r>
              <a:rPr lang="en-US" sz="105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 round history injected into each new round's context </a:t>
            </a:r>
            <a:endParaRPr sz="1050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05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Across-game memory: </a:t>
            </a:r>
            <a:r>
              <a:rPr lang="en-US" sz="105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judge writes learnings to a persistent .md file, loaded automatically at the next session</a:t>
            </a:r>
            <a:endParaRPr sz="1050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05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Two-layer memory = no repeated mistakes within a session or across sessions</a:t>
            </a:r>
            <a:endParaRPr sz="1050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6cb00af7a_0_39"/>
          <p:cNvSpPr/>
          <p:nvPr/>
        </p:nvSpPr>
        <p:spPr>
          <a:xfrm>
            <a:off x="457200" y="256032"/>
            <a:ext cx="1645800" cy="255900"/>
          </a:xfrm>
          <a:prstGeom prst="rect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g3e6cb00af7a_0_39"/>
          <p:cNvSpPr/>
          <p:nvPr/>
        </p:nvSpPr>
        <p:spPr>
          <a:xfrm>
            <a:off x="457200" y="256032"/>
            <a:ext cx="1645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 Brain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g3e6cb00af7a_0_39"/>
          <p:cNvSpPr/>
          <p:nvPr/>
        </p:nvSpPr>
        <p:spPr>
          <a:xfrm>
            <a:off x="457200" y="594360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Agent Architecture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g3e6cb00af7a_0_39"/>
          <p:cNvSpPr/>
          <p:nvPr/>
        </p:nvSpPr>
        <p:spPr>
          <a:xfrm>
            <a:off x="5056925" y="0"/>
            <a:ext cx="4079100" cy="5120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" name="Google Shape;80;g3e6cb00af7a_0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4925" y="-98525"/>
            <a:ext cx="4142002" cy="5240773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g3e6cb00af7a_0_39"/>
          <p:cNvSpPr/>
          <p:nvPr/>
        </p:nvSpPr>
        <p:spPr>
          <a:xfrm>
            <a:off x="367215" y="1364950"/>
            <a:ext cx="4251900" cy="3566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g3e6cb00af7a_0_39"/>
          <p:cNvSpPr txBox="1"/>
          <p:nvPr/>
        </p:nvSpPr>
        <p:spPr>
          <a:xfrm>
            <a:off x="367225" y="1537150"/>
            <a:ext cx="4251900" cy="3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marR="0" rtl="0"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rgbClr val="0F1330"/>
              </a:buClr>
              <a:buSzPts val="1300"/>
              <a:buFont typeface="Calibri"/>
              <a:buChar char="●"/>
            </a:pPr>
            <a:r>
              <a:rPr b="1" lang="en-US" sz="15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Start from System prompt, including ReAct instructions &amp; prior reflections</a:t>
            </a:r>
            <a:endParaRPr b="1" sz="15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rgbClr val="0F1330"/>
              </a:buClr>
              <a:buSzPts val="1300"/>
              <a:buFont typeface="Calibri"/>
              <a:buChar char="●"/>
            </a:pPr>
            <a:r>
              <a:rPr b="1" lang="en-US" sz="15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Enter ReAct Loop (with maximum iterations) with thought, reason, act, and observe steps</a:t>
            </a:r>
            <a:endParaRPr b="1" i="0" sz="1500" u="none" cap="none" strike="noStrike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Char char="●"/>
            </a:pPr>
            <a:r>
              <a:rPr b="1" lang="en-US" sz="15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Trace Logger captures every step and stores it</a:t>
            </a:r>
            <a:endParaRPr b="1" i="0" sz="1500" u="none" cap="none" strike="noStrike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Char char="●"/>
            </a:pPr>
            <a:r>
              <a:rPr b="1" lang="en-US" sz="15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Tracer Judge creates a blame report (LLM as a judge)</a:t>
            </a:r>
            <a:endParaRPr b="1" sz="15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Char char="●"/>
            </a:pPr>
            <a:r>
              <a:rPr b="1" lang="en-US" sz="15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Lessons are written to a persistent reflections (.md) file for each game to prevent future mistakes</a:t>
            </a:r>
            <a:endParaRPr b="1" sz="15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af6a7411b_0_67"/>
          <p:cNvSpPr txBox="1"/>
          <p:nvPr/>
        </p:nvSpPr>
        <p:spPr>
          <a:xfrm>
            <a:off x="457200" y="639813"/>
            <a:ext cx="90432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Modified Error Localization Framework</a:t>
            </a:r>
            <a:endParaRPr b="1" sz="2600">
              <a:solidFill>
                <a:srgbClr val="1E276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88" name="Google Shape;88;g3daf6a7411b_0_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4250" y="3746050"/>
            <a:ext cx="209550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g3daf6a7411b_0_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36475" y="2545900"/>
            <a:ext cx="2076450" cy="120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g3daf6a7411b_0_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1775" y="2545900"/>
            <a:ext cx="2076450" cy="120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g3daf6a7411b_0_6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24250" y="1475700"/>
            <a:ext cx="2095500" cy="120015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g3daf6a7411b_0_67"/>
          <p:cNvSpPr/>
          <p:nvPr/>
        </p:nvSpPr>
        <p:spPr>
          <a:xfrm>
            <a:off x="457200" y="256032"/>
            <a:ext cx="1645800" cy="255900"/>
          </a:xfrm>
          <a:prstGeom prst="rect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daf6a7411b_0_67"/>
          <p:cNvSpPr/>
          <p:nvPr/>
        </p:nvSpPr>
        <p:spPr>
          <a:xfrm>
            <a:off x="457200" y="256032"/>
            <a:ext cx="1645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ERROR LOCALIZATION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" name="Google Shape;94;g3daf6a7411b_0_67"/>
          <p:cNvCxnSpPr>
            <a:endCxn id="88" idx="1"/>
          </p:cNvCxnSpPr>
          <p:nvPr/>
        </p:nvCxnSpPr>
        <p:spPr>
          <a:xfrm>
            <a:off x="2525850" y="3793300"/>
            <a:ext cx="998400" cy="581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" name="Google Shape;95;g3daf6a7411b_0_67"/>
          <p:cNvCxnSpPr/>
          <p:nvPr/>
        </p:nvCxnSpPr>
        <p:spPr>
          <a:xfrm flipH="1" rot="10800000">
            <a:off x="5667050" y="3857675"/>
            <a:ext cx="835800" cy="569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" name="Google Shape;96;g3daf6a7411b_0_67"/>
          <p:cNvCxnSpPr/>
          <p:nvPr/>
        </p:nvCxnSpPr>
        <p:spPr>
          <a:xfrm rot="10800000">
            <a:off x="5721925" y="1827750"/>
            <a:ext cx="1047300" cy="624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af6a7411b_0_25"/>
          <p:cNvSpPr/>
          <p:nvPr/>
        </p:nvSpPr>
        <p:spPr>
          <a:xfrm>
            <a:off x="457200" y="256032"/>
            <a:ext cx="1645800" cy="255900"/>
          </a:xfrm>
          <a:prstGeom prst="rect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daf6a7411b_0_25"/>
          <p:cNvSpPr/>
          <p:nvPr/>
        </p:nvSpPr>
        <p:spPr>
          <a:xfrm>
            <a:off x="457200" y="256032"/>
            <a:ext cx="1645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ERROR LOCALIZATION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g3daf6a7411b_0_25"/>
          <p:cNvSpPr/>
          <p:nvPr/>
        </p:nvSpPr>
        <p:spPr>
          <a:xfrm>
            <a:off x="457200" y="594360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3daf6a7411b_0_25"/>
          <p:cNvSpPr/>
          <p:nvPr/>
        </p:nvSpPr>
        <p:spPr>
          <a:xfrm>
            <a:off x="4826760" y="788700"/>
            <a:ext cx="4023300" cy="3566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daf6a7411b_0_25"/>
          <p:cNvSpPr/>
          <p:nvPr/>
        </p:nvSpPr>
        <p:spPr>
          <a:xfrm>
            <a:off x="349985" y="825450"/>
            <a:ext cx="4023300" cy="3566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daf6a7411b_0_25"/>
          <p:cNvSpPr/>
          <p:nvPr/>
        </p:nvSpPr>
        <p:spPr>
          <a:xfrm>
            <a:off x="349985" y="788700"/>
            <a:ext cx="4023300" cy="35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TRACE LOGGER</a:t>
            </a:r>
            <a:endParaRPr b="1"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lang="en-US" sz="15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tructured Recording of every ReAct step</a:t>
            </a:r>
            <a:endParaRPr b="1" sz="15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PER-STEP RECORD:</a:t>
            </a:r>
            <a:endParaRPr b="1" sz="15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330"/>
              </a:buClr>
              <a:buSzPts val="1500"/>
              <a:buFont typeface="Calibri"/>
              <a:buChar char="●"/>
            </a:pPr>
            <a:r>
              <a:rPr lang="en-US" sz="125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125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ound / Step Number</a:t>
            </a:r>
            <a:endParaRPr sz="1250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330"/>
              </a:buClr>
              <a:buSzPts val="1500"/>
              <a:buFont typeface="Calibri"/>
              <a:buChar char="●"/>
            </a:pPr>
            <a:r>
              <a:rPr lang="en-US" sz="125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Prompt Sent To The Model</a:t>
            </a:r>
            <a:endParaRPr sz="1250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330"/>
              </a:buClr>
              <a:buSzPts val="1500"/>
              <a:buFont typeface="Calibri"/>
              <a:buChar char="●"/>
            </a:pPr>
            <a:r>
              <a:rPr lang="en-US" sz="125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Raw Model Response</a:t>
            </a:r>
            <a:endParaRPr sz="1250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330"/>
              </a:buClr>
              <a:buSzPts val="1500"/>
              <a:buFont typeface="Calibri"/>
              <a:buChar char="●"/>
            </a:pPr>
            <a:r>
              <a:rPr lang="en-US" sz="125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Parsed Thought / Action / Decision</a:t>
            </a:r>
            <a:endParaRPr sz="1250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330"/>
              </a:buClr>
              <a:buSzPts val="1500"/>
              <a:buFont typeface="Calibri"/>
              <a:buChar char="●"/>
            </a:pPr>
            <a:r>
              <a:rPr lang="en-US" sz="125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Tool Observation</a:t>
            </a:r>
            <a:endParaRPr sz="1250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330"/>
              </a:buClr>
              <a:buSzPts val="1500"/>
              <a:buFont typeface="Calibri"/>
              <a:buChar char="●"/>
            </a:pPr>
            <a:r>
              <a:rPr lang="en-US" sz="125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Game State Before &amp; After</a:t>
            </a:r>
            <a:endParaRPr b="1" sz="17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3daf6a7411b_0_25"/>
          <p:cNvSpPr txBox="1"/>
          <p:nvPr/>
        </p:nvSpPr>
        <p:spPr>
          <a:xfrm>
            <a:off x="5115950" y="946050"/>
            <a:ext cx="3570900" cy="3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TRACER JUDGE </a:t>
            </a:r>
            <a:endParaRPr b="1"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LLM Based Error Localization</a:t>
            </a:r>
            <a:endParaRPr b="1"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b="1" lang="en-US" sz="15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AILURE CATEGORIES:</a:t>
            </a:r>
            <a:endParaRPr b="1" sz="15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330"/>
              </a:buClr>
              <a:buSzPts val="1500"/>
              <a:buFont typeface="Calibri"/>
              <a:buChar char="●"/>
            </a:pPr>
            <a:r>
              <a:rPr lang="en-US" sz="125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Format error</a:t>
            </a:r>
            <a:endParaRPr sz="1250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330"/>
              </a:buClr>
              <a:buSzPts val="1500"/>
              <a:buFont typeface="Calibri"/>
              <a:buChar char="●"/>
            </a:pPr>
            <a:r>
              <a:rPr lang="en-US" sz="125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State Error</a:t>
            </a:r>
            <a:endParaRPr sz="1250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330"/>
              </a:buClr>
              <a:buSzPts val="1500"/>
              <a:buFont typeface="Calibri"/>
              <a:buChar char="●"/>
            </a:pPr>
            <a:r>
              <a:rPr lang="en-US" sz="125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Strategy Error</a:t>
            </a:r>
            <a:endParaRPr sz="1250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330"/>
              </a:buClr>
              <a:buSzPts val="1500"/>
              <a:buFont typeface="Calibri"/>
              <a:buChar char="●"/>
            </a:pPr>
            <a:r>
              <a:rPr lang="en-US" sz="125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Tool Use Error</a:t>
            </a:r>
            <a:endParaRPr sz="1250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330"/>
              </a:buClr>
              <a:buSzPts val="1500"/>
              <a:buFont typeface="Calibri"/>
              <a:buChar char="●"/>
            </a:pPr>
            <a:r>
              <a:rPr lang="en-US" sz="125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Illegal Name</a:t>
            </a:r>
            <a:endParaRPr sz="1250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330"/>
              </a:buClr>
              <a:buSzPts val="1500"/>
              <a:buFont typeface="Calibri"/>
              <a:buChar char="●"/>
            </a:pPr>
            <a:r>
              <a:rPr lang="en-US" sz="125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Opponent Model Error</a:t>
            </a:r>
            <a:endParaRPr sz="1250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330"/>
              </a:buClr>
              <a:buSzPts val="1500"/>
              <a:buFont typeface="Calibri"/>
              <a:buChar char="●"/>
            </a:pPr>
            <a:r>
              <a:rPr lang="en-US" sz="125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Goal Error</a:t>
            </a:r>
            <a:endParaRPr sz="1250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6bc1b5637_7_0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e6bc1b5637_7_0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ERROR LOCALIZATION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3e6bc1b5637_7_0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How We Improved the Agent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3e6bc1b5637_7_0"/>
          <p:cNvSpPr/>
          <p:nvPr/>
        </p:nvSpPr>
        <p:spPr>
          <a:xfrm>
            <a:off x="365760" y="1371600"/>
            <a:ext cx="4023360" cy="3566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e6bc1b5637_7_0"/>
          <p:cNvSpPr/>
          <p:nvPr/>
        </p:nvSpPr>
        <p:spPr>
          <a:xfrm>
            <a:off x="365760" y="1371600"/>
            <a:ext cx="4023360" cy="411480"/>
          </a:xfrm>
          <a:prstGeom prst="rect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e6bc1b5637_7_0"/>
          <p:cNvSpPr/>
          <p:nvPr/>
        </p:nvSpPr>
        <p:spPr>
          <a:xfrm>
            <a:off x="502920" y="1371600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BEFORE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—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Silent Bug Detected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e6bc1b5637_7_0"/>
          <p:cNvSpPr/>
          <p:nvPr/>
        </p:nvSpPr>
        <p:spPr>
          <a:xfrm>
            <a:off x="502920" y="187452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Round 3 — Agent submits illegal move: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g3e6bc1b5637_7_0"/>
          <p:cNvSpPr/>
          <p:nvPr/>
        </p:nvSpPr>
        <p:spPr>
          <a:xfrm>
            <a:off x="502920" y="2240280"/>
            <a:ext cx="3749040" cy="548640"/>
          </a:xfrm>
          <a:prstGeom prst="rect">
            <a:avLst/>
          </a:prstGeom>
          <a:solidFill>
            <a:srgbClr val="FEF2F2"/>
          </a:solidFill>
          <a:ln cap="flat" cmpd="sng" w="9525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e6bc1b5637_7_0"/>
          <p:cNvSpPr/>
          <p:nvPr/>
        </p:nvSpPr>
        <p:spPr>
          <a:xfrm>
            <a:off x="594360" y="2267712"/>
            <a:ext cx="3566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74C3C"/>
                </a:solidFill>
                <a:latin typeface="Consolas"/>
                <a:ea typeface="Consolas"/>
                <a:cs typeface="Consolas"/>
                <a:sym typeface="Consolas"/>
              </a:rPr>
              <a:t>make_move: attack=6 defend=5 heal=0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74C3C"/>
                </a:solidFill>
                <a:latin typeface="Consolas"/>
                <a:ea typeface="Consolas"/>
                <a:cs typeface="Consolas"/>
                <a:sym typeface="Consolas"/>
              </a:rPr>
              <a:t>→ REJECTED  (6+5+0 = 11, not 10)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g3e6bc1b5637_7_0"/>
          <p:cNvSpPr/>
          <p:nvPr/>
        </p:nvSpPr>
        <p:spPr>
          <a:xfrm>
            <a:off x="502925" y="2880349"/>
            <a:ext cx="3749100" cy="10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6B7A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100"/>
              <a:buFont typeface="Calibri"/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 Agent made an illegal move which violated the constraints of the game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100"/>
              <a:buFont typeface="Calibri"/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agent retried and eventually made a valid move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so the game ran without crashing. </a:t>
            </a: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Without inspection of the reasoning trace, this failure was completely invisible.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3e6bc1b5637_7_0"/>
          <p:cNvSpPr/>
          <p:nvPr/>
        </p:nvSpPr>
        <p:spPr>
          <a:xfrm>
            <a:off x="4663440" y="1371600"/>
            <a:ext cx="4251960" cy="3566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e6bc1b5637_7_0"/>
          <p:cNvSpPr/>
          <p:nvPr/>
        </p:nvSpPr>
        <p:spPr>
          <a:xfrm>
            <a:off x="4663440" y="1371600"/>
            <a:ext cx="4251960" cy="411480"/>
          </a:xfrm>
          <a:prstGeom prst="rect">
            <a:avLst/>
          </a:prstGeom>
          <a:solidFill>
            <a:srgbClr val="2ECC71"/>
          </a:solidFill>
          <a:ln cap="flat" cmpd="sng" w="12700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e6bc1b5637_7_0"/>
          <p:cNvSpPr/>
          <p:nvPr/>
        </p:nvSpPr>
        <p:spPr>
          <a:xfrm>
            <a:off x="4800600" y="1371600"/>
            <a:ext cx="3977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AFTER  —  </a:t>
            </a: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</a:t>
            </a: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Judge Localized the Error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g3e6bc1b5637_7_0"/>
          <p:cNvSpPr/>
          <p:nvPr/>
        </p:nvSpPr>
        <p:spPr>
          <a:xfrm>
            <a:off x="4800600" y="1874520"/>
            <a:ext cx="3977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judge_trace.py output: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3e6bc1b5637_7_0"/>
          <p:cNvSpPr/>
          <p:nvPr/>
        </p:nvSpPr>
        <p:spPr>
          <a:xfrm>
            <a:off x="4800600" y="2240280"/>
            <a:ext cx="3977640" cy="1234440"/>
          </a:xfrm>
          <a:prstGeom prst="rect">
            <a:avLst/>
          </a:prstGeom>
          <a:solidFill>
            <a:srgbClr val="F0FDF4"/>
          </a:solidFill>
          <a:ln cap="flat" cmpd="sng" w="9525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e6bc1b5637_7_0"/>
          <p:cNvSpPr/>
          <p:nvPr/>
        </p:nvSpPr>
        <p:spPr>
          <a:xfrm>
            <a:off x="4892040" y="2286000"/>
            <a:ext cx="37490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6B7A99"/>
                </a:solidFill>
                <a:latin typeface="Consolas"/>
                <a:ea typeface="Consolas"/>
                <a:cs typeface="Consolas"/>
                <a:sym typeface="Consolas"/>
              </a:rPr>
              <a:t>round: </a:t>
            </a:r>
            <a:r>
              <a:rPr b="1" i="0" lang="en-US" sz="950" u="none" cap="none" strike="noStrike">
                <a:solidFill>
                  <a:srgbClr val="1E276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br>
              <a:rPr b="1" i="0" lang="en-US" sz="950" u="none" cap="none" strike="noStrike">
                <a:solidFill>
                  <a:srgbClr val="1E276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950" u="none" cap="none" strike="noStrike">
                <a:solidFill>
                  <a:srgbClr val="6B7A99"/>
                </a:solidFill>
                <a:latin typeface="Consolas"/>
                <a:ea typeface="Consolas"/>
                <a:cs typeface="Consolas"/>
                <a:sym typeface="Consolas"/>
              </a:rPr>
              <a:t>category: </a:t>
            </a:r>
            <a:r>
              <a:rPr b="1" i="0" lang="en-US" sz="950" u="none" cap="none" strike="noStrike">
                <a:solidFill>
                  <a:srgbClr val="2ECC71"/>
                </a:solidFill>
                <a:latin typeface="Consolas"/>
                <a:ea typeface="Consolas"/>
                <a:cs typeface="Consolas"/>
                <a:sym typeface="Consolas"/>
              </a:rPr>
              <a:t>"format_error"</a:t>
            </a:r>
            <a:br>
              <a:rPr b="1" i="0" lang="en-US" sz="950" u="none" cap="none" strike="noStrike">
                <a:solidFill>
                  <a:srgbClr val="2ECC7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950" u="none" cap="none" strike="noStrike">
                <a:solidFill>
                  <a:srgbClr val="6B7A99"/>
                </a:solidFill>
                <a:latin typeface="Consolas"/>
                <a:ea typeface="Consolas"/>
                <a:cs typeface="Consolas"/>
                <a:sym typeface="Consolas"/>
              </a:rPr>
              <a:t>explanation: </a:t>
            </a:r>
            <a:r>
              <a:rPr b="0" i="0" lang="en-US" sz="950" u="none" cap="none" strike="noStrike">
                <a:solidFill>
                  <a:srgbClr val="1E2761"/>
                </a:solidFill>
                <a:latin typeface="Consolas"/>
                <a:ea typeface="Consolas"/>
                <a:cs typeface="Consolas"/>
                <a:sym typeface="Consolas"/>
              </a:rPr>
              <a:t>"attack=6 defend=5 heal=0 sums to 11"</a:t>
            </a:r>
            <a:br>
              <a:rPr b="0" i="0" lang="en-US" sz="950" u="none" cap="none" strike="noStrike">
                <a:solidFill>
                  <a:srgbClr val="1E276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950" u="none" cap="none" strike="noStrike">
                <a:solidFill>
                  <a:srgbClr val="6B7A99"/>
                </a:solidFill>
                <a:latin typeface="Consolas"/>
                <a:ea typeface="Consolas"/>
                <a:cs typeface="Consolas"/>
                <a:sym typeface="Consolas"/>
              </a:rPr>
              <a:t>fix: </a:t>
            </a:r>
            <a:r>
              <a:rPr b="0" i="0" lang="en-US" sz="950" u="none" cap="none" strike="noStrike">
                <a:solidFill>
                  <a:srgbClr val="1E2761"/>
                </a:solidFill>
                <a:latin typeface="Consolas"/>
                <a:ea typeface="Consolas"/>
                <a:cs typeface="Consolas"/>
                <a:sym typeface="Consolas"/>
              </a:rPr>
              <a:t>"validate energy sum before submitting"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3e6bc1b5637_7_0"/>
          <p:cNvSpPr/>
          <p:nvPr/>
        </p:nvSpPr>
        <p:spPr>
          <a:xfrm>
            <a:off x="4800600" y="3547872"/>
            <a:ext cx="3977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Reflection appended to hunger_games.md: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3e6bc1b5637_7_0"/>
          <p:cNvSpPr/>
          <p:nvPr/>
        </p:nvSpPr>
        <p:spPr>
          <a:xfrm>
            <a:off x="4800600" y="3913632"/>
            <a:ext cx="3977640" cy="731520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e6bc1b5637_7_0"/>
          <p:cNvSpPr/>
          <p:nvPr/>
        </p:nvSpPr>
        <p:spPr>
          <a:xfrm>
            <a:off x="4892040" y="3950208"/>
            <a:ext cx="37947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"Strictly validate all numerical constraints, especially sum requirements, at every step to prevent illegal moves."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6cb00af7a_0_21"/>
          <p:cNvSpPr/>
          <p:nvPr/>
        </p:nvSpPr>
        <p:spPr>
          <a:xfrm>
            <a:off x="457200" y="256032"/>
            <a:ext cx="1645800" cy="255900"/>
          </a:xfrm>
          <a:prstGeom prst="rect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e6cb00af7a_0_21"/>
          <p:cNvSpPr/>
          <p:nvPr/>
        </p:nvSpPr>
        <p:spPr>
          <a:xfrm>
            <a:off x="457200" y="256032"/>
            <a:ext cx="1645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REASONING GAMES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g3e6cb00af7a_0_21"/>
          <p:cNvSpPr/>
          <p:nvPr/>
        </p:nvSpPr>
        <p:spPr>
          <a:xfrm>
            <a:off x="457200" y="594360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3e6cb00af7a_0_21"/>
          <p:cNvSpPr/>
          <p:nvPr/>
        </p:nvSpPr>
        <p:spPr>
          <a:xfrm>
            <a:off x="349975" y="1385450"/>
            <a:ext cx="7731900" cy="3521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e6cb00af7a_0_21"/>
          <p:cNvSpPr txBox="1"/>
          <p:nvPr/>
        </p:nvSpPr>
        <p:spPr>
          <a:xfrm>
            <a:off x="457200" y="639813"/>
            <a:ext cx="90432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Verbal Reasoning-Based Games</a:t>
            </a:r>
            <a:endParaRPr b="1" sz="2600">
              <a:solidFill>
                <a:srgbClr val="1E276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3" name="Google Shape;143;g3e6cb00af7a_0_21"/>
          <p:cNvSpPr txBox="1"/>
          <p:nvPr/>
        </p:nvSpPr>
        <p:spPr>
          <a:xfrm>
            <a:off x="452200" y="1481675"/>
            <a:ext cx="7331400" cy="3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Current Implementation</a:t>
            </a:r>
            <a:endParaRPr b="1" sz="17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F1330"/>
              </a:buClr>
              <a:buSzPts val="1500"/>
              <a:buFont typeface="Calibri"/>
              <a:buChar char="●"/>
            </a:pPr>
            <a:r>
              <a:rPr b="1" lang="en-US" sz="17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Prisoner’s Dilemma - </a:t>
            </a:r>
            <a:r>
              <a:rPr lang="en-US" sz="17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(Axelrod (1984))</a:t>
            </a:r>
            <a:endParaRPr sz="17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libri"/>
              <a:buChar char="●"/>
            </a:pPr>
            <a:r>
              <a:rPr b="1" lang="en-US" sz="17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Hunger Games </a:t>
            </a:r>
            <a:endParaRPr b="1" sz="17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libri"/>
              <a:buChar char="●"/>
            </a:pPr>
            <a:r>
              <a:rPr b="1" lang="en-US" sz="17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Are You the Traitor? - </a:t>
            </a:r>
            <a:r>
              <a:rPr lang="en-US" sz="17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(Costarelli et al. (2024))</a:t>
            </a:r>
            <a:endParaRPr sz="17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Future Implementation for Tournament</a:t>
            </a:r>
            <a:endParaRPr b="1" sz="17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libri"/>
              <a:buChar char="●"/>
            </a:pPr>
            <a:r>
              <a:rPr b="1" lang="en-US" sz="17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Two Rooms and a Boom</a:t>
            </a:r>
            <a:r>
              <a:rPr b="1" lang="en-US" sz="17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7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Players are split into two rooms. Find your teammates, build trust, and exchange hostages before time runs out and the bomb explodes. (Costarelli et al. (2024))</a:t>
            </a:r>
            <a:endParaRPr sz="17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libri"/>
              <a:buChar char="●"/>
            </a:pPr>
            <a:r>
              <a:rPr b="1" lang="en-US" sz="17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Werewolf - </a:t>
            </a:r>
            <a:r>
              <a:rPr lang="en-US" sz="17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(Xu et al. (2023))</a:t>
            </a:r>
            <a:endParaRPr sz="17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libri"/>
              <a:buChar char="●"/>
            </a:pPr>
            <a:r>
              <a:rPr b="1" lang="en-US" sz="17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Resistance / Avalon - </a:t>
            </a:r>
            <a:r>
              <a:rPr lang="en-US" sz="17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(Light et al. (2023) </a:t>
            </a:r>
            <a:r>
              <a:rPr i="1" lang="en-US" sz="17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AvalonBench; Lan et al. (2023))</a:t>
            </a:r>
            <a:endParaRPr i="1" sz="17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6bc1b5637_0_76"/>
          <p:cNvSpPr/>
          <p:nvPr/>
        </p:nvSpPr>
        <p:spPr>
          <a:xfrm>
            <a:off x="457200" y="256032"/>
            <a:ext cx="1645800" cy="255900"/>
          </a:xfrm>
          <a:prstGeom prst="rect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e6bc1b5637_0_76"/>
          <p:cNvSpPr/>
          <p:nvPr/>
        </p:nvSpPr>
        <p:spPr>
          <a:xfrm>
            <a:off x="457200" y="256032"/>
            <a:ext cx="1645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 Testing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3e6bc1b5637_0_76"/>
          <p:cNvSpPr/>
          <p:nvPr/>
        </p:nvSpPr>
        <p:spPr>
          <a:xfrm>
            <a:off x="457200" y="594360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Game </a:t>
            </a:r>
            <a:r>
              <a:rPr b="1" lang="en-US" sz="30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Constraints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g3e6bc1b5637_0_76"/>
          <p:cNvSpPr/>
          <p:nvPr/>
        </p:nvSpPr>
        <p:spPr>
          <a:xfrm>
            <a:off x="367215" y="1364950"/>
            <a:ext cx="4251900" cy="3566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53" name="Google Shape;153;g3e6bc1b5637_0_76"/>
          <p:cNvSpPr txBox="1"/>
          <p:nvPr/>
        </p:nvSpPr>
        <p:spPr>
          <a:xfrm>
            <a:off x="522550" y="1491425"/>
            <a:ext cx="4003200" cy="3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E2761"/>
                </a:solidFill>
              </a:rPr>
              <a:t>Hunger_Game </a:t>
            </a:r>
            <a:r>
              <a:rPr b="1" lang="en-US" sz="1100">
                <a:solidFill>
                  <a:srgbClr val="1E2761"/>
                </a:solidFill>
              </a:rPr>
              <a:t>Constraints</a:t>
            </a:r>
            <a:r>
              <a:rPr b="1" lang="en-US" sz="1100">
                <a:solidFill>
                  <a:srgbClr val="1E2761"/>
                </a:solidFill>
              </a:rPr>
              <a:t>:</a:t>
            </a:r>
            <a:r>
              <a:rPr lang="en-US" sz="1000">
                <a:solidFill>
                  <a:schemeClr val="dk1"/>
                </a:solidFill>
              </a:rPr>
              <a:t>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</a:rPr>
              <a:t>1.</a:t>
            </a:r>
            <a:r>
              <a:rPr lang="en-US" sz="1000">
                <a:solidFill>
                  <a:schemeClr val="dk1"/>
                </a:solidFill>
              </a:rPr>
              <a:t> </a:t>
            </a:r>
            <a:r>
              <a:rPr b="1" lang="en-US" sz="1000">
                <a:solidFill>
                  <a:schemeClr val="dk1"/>
                </a:solidFill>
              </a:rPr>
              <a:t>Allocate</a:t>
            </a:r>
            <a:r>
              <a:rPr lang="en-US" sz="1000">
                <a:solidFill>
                  <a:schemeClr val="dk1"/>
                </a:solidFill>
              </a:rPr>
              <a:t> 10 points each round across: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-US" sz="1000">
                <a:solidFill>
                  <a:schemeClr val="dk1"/>
                </a:solidFill>
              </a:rPr>
              <a:t>Attack:</a:t>
            </a:r>
            <a:r>
              <a:rPr lang="en-US" sz="1000">
                <a:solidFill>
                  <a:schemeClr val="dk1"/>
                </a:solidFill>
              </a:rPr>
              <a:t> deal damage to opponent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-US" sz="1000">
                <a:solidFill>
                  <a:schemeClr val="dk1"/>
                </a:solidFill>
              </a:rPr>
              <a:t>Defense:</a:t>
            </a:r>
            <a:r>
              <a:rPr lang="en-US" sz="1000">
                <a:solidFill>
                  <a:schemeClr val="dk1"/>
                </a:solidFill>
              </a:rPr>
              <a:t> block incoming damage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-US" sz="1000">
                <a:solidFill>
                  <a:schemeClr val="dk1"/>
                </a:solidFill>
              </a:rPr>
              <a:t>Health:</a:t>
            </a:r>
            <a:r>
              <a:rPr lang="en-US" sz="1000">
                <a:solidFill>
                  <a:schemeClr val="dk1"/>
                </a:solidFill>
              </a:rPr>
              <a:t> restore HP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</a:rPr>
              <a:t>2</a:t>
            </a:r>
            <a:r>
              <a:rPr lang="en-US" sz="1000">
                <a:solidFill>
                  <a:schemeClr val="dk1"/>
                </a:solidFill>
              </a:rPr>
              <a:t>. </a:t>
            </a:r>
            <a:r>
              <a:rPr b="1" lang="en-US" sz="1000">
                <a:solidFill>
                  <a:schemeClr val="dk1"/>
                </a:solidFill>
              </a:rPr>
              <a:t>Starting state: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000">
                <a:solidFill>
                  <a:schemeClr val="dk1"/>
                </a:solidFill>
              </a:rPr>
              <a:t>Both players begin with </a:t>
            </a:r>
            <a:r>
              <a:rPr b="1" lang="en-US" sz="1000">
                <a:solidFill>
                  <a:schemeClr val="dk1"/>
                </a:solidFill>
              </a:rPr>
              <a:t>10 HP</a:t>
            </a:r>
            <a:endParaRPr b="1"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000">
                <a:solidFill>
                  <a:schemeClr val="dk1"/>
                </a:solidFill>
              </a:rPr>
              <a:t>Maximum 5 rounds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000">
                <a:solidFill>
                  <a:schemeClr val="dk1"/>
                </a:solidFill>
              </a:rPr>
              <a:t>Choices are made simultaneously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</a:rPr>
              <a:t>3. Win conditions: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000">
                <a:solidFill>
                  <a:schemeClr val="dk1"/>
                </a:solidFill>
              </a:rPr>
              <a:t>Opponent reaches 0 HP = immediate win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000">
                <a:solidFill>
                  <a:schemeClr val="dk1"/>
                </a:solidFill>
              </a:rPr>
              <a:t>If both survive at round 5, player with higher HP wins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</a:rPr>
              <a:t>Skills Tested:</a:t>
            </a:r>
            <a:r>
              <a:rPr lang="en-US" sz="1000">
                <a:solidFill>
                  <a:schemeClr val="dk1"/>
                </a:solidFill>
              </a:rPr>
              <a:t> strategic planning, opponent prediction, adaptation, and resource allocation under constraints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e6bc1b5637_0_76"/>
          <p:cNvSpPr/>
          <p:nvPr/>
        </p:nvSpPr>
        <p:spPr>
          <a:xfrm>
            <a:off x="4724215" y="1364950"/>
            <a:ext cx="4251900" cy="3566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55" name="Google Shape;155;g3e6bc1b5637_0_76"/>
          <p:cNvSpPr txBox="1"/>
          <p:nvPr/>
        </p:nvSpPr>
        <p:spPr>
          <a:xfrm>
            <a:off x="4879550" y="1491425"/>
            <a:ext cx="4003200" cy="3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E2761"/>
                </a:solidFill>
              </a:rPr>
              <a:t>Prisoners Dilemma</a:t>
            </a:r>
            <a:r>
              <a:rPr b="1" lang="en-US" sz="1100">
                <a:solidFill>
                  <a:srgbClr val="1E2761"/>
                </a:solidFill>
              </a:rPr>
              <a:t> Constraints:</a:t>
            </a:r>
            <a:r>
              <a:rPr lang="en-US" sz="1000">
                <a:solidFill>
                  <a:schemeClr val="dk1"/>
                </a:solidFill>
              </a:rPr>
              <a:t>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</a:rPr>
              <a:t>1.</a:t>
            </a:r>
            <a:r>
              <a:rPr lang="en-US" sz="1000">
                <a:solidFill>
                  <a:schemeClr val="dk1"/>
                </a:solidFill>
              </a:rPr>
              <a:t> Each round, both players choose one action: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-US" sz="1000">
                <a:solidFill>
                  <a:schemeClr val="dk1"/>
                </a:solidFill>
              </a:rPr>
              <a:t>Cooperate:</a:t>
            </a:r>
            <a:r>
              <a:rPr lang="en-US" sz="1000">
                <a:solidFill>
                  <a:schemeClr val="dk1"/>
                </a:solidFill>
              </a:rPr>
              <a:t> work together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-US" sz="1000">
                <a:solidFill>
                  <a:schemeClr val="dk1"/>
                </a:solidFill>
              </a:rPr>
              <a:t>Defect:</a:t>
            </a:r>
            <a:r>
              <a:rPr lang="en-US" sz="1000">
                <a:solidFill>
                  <a:schemeClr val="dk1"/>
                </a:solidFill>
              </a:rPr>
              <a:t> betray opponent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</a:rPr>
              <a:t>2. Points per round: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000">
                <a:solidFill>
                  <a:schemeClr val="dk1"/>
                </a:solidFill>
              </a:rPr>
              <a:t>Both cooperate = 3 / 3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000">
                <a:solidFill>
                  <a:schemeClr val="dk1"/>
                </a:solidFill>
              </a:rPr>
              <a:t>You defect, they cooperate = 5 / 0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000">
                <a:solidFill>
                  <a:schemeClr val="dk1"/>
                </a:solidFill>
              </a:rPr>
              <a:t>You cooperate, they defect = 0 / 5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000">
                <a:solidFill>
                  <a:schemeClr val="dk1"/>
                </a:solidFill>
              </a:rPr>
              <a:t>Both defect = 1 / 1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</a:rPr>
              <a:t>3. Game format</a:t>
            </a:r>
            <a:r>
              <a:rPr lang="en-US" sz="1000">
                <a:solidFill>
                  <a:schemeClr val="dk1"/>
                </a:solidFill>
              </a:rPr>
              <a:t>: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000">
                <a:solidFill>
                  <a:schemeClr val="dk1"/>
                </a:solidFill>
              </a:rPr>
              <a:t>5 rounds total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000">
                <a:solidFill>
                  <a:schemeClr val="dk1"/>
                </a:solidFill>
              </a:rPr>
              <a:t>Choices are made simultaneously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</a:rPr>
              <a:t>4. Win condition</a:t>
            </a:r>
            <a:r>
              <a:rPr lang="en-US" sz="1000">
                <a:solidFill>
                  <a:schemeClr val="dk1"/>
                </a:solidFill>
              </a:rPr>
              <a:t>: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000">
                <a:solidFill>
                  <a:schemeClr val="dk1"/>
                </a:solidFill>
              </a:rPr>
              <a:t>Player with the highest total score after 5 rounds wins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6d204e033_1_16"/>
          <p:cNvSpPr/>
          <p:nvPr/>
        </p:nvSpPr>
        <p:spPr>
          <a:xfrm>
            <a:off x="457200" y="256032"/>
            <a:ext cx="1645800" cy="255900"/>
          </a:xfrm>
          <a:prstGeom prst="rect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3e6d204e033_1_16"/>
          <p:cNvSpPr/>
          <p:nvPr/>
        </p:nvSpPr>
        <p:spPr>
          <a:xfrm>
            <a:off x="457200" y="256032"/>
            <a:ext cx="1645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Agent </a:t>
            </a:r>
            <a:r>
              <a:rPr b="1"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Testing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g3e6d204e033_1_16"/>
          <p:cNvSpPr/>
          <p:nvPr/>
        </p:nvSpPr>
        <p:spPr>
          <a:xfrm>
            <a:off x="457200" y="594360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Agent Reasoning Example — Hunger Games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3e6d204e033_1_16"/>
          <p:cNvSpPr/>
          <p:nvPr/>
        </p:nvSpPr>
        <p:spPr>
          <a:xfrm>
            <a:off x="4983480" y="132588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Agent’s Key Decisions &amp; Reasoning Traces Summarized: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e6d204e033_1_16"/>
          <p:cNvSpPr/>
          <p:nvPr/>
        </p:nvSpPr>
        <p:spPr>
          <a:xfrm>
            <a:off x="4983480" y="1783080"/>
            <a:ext cx="457200" cy="457200"/>
          </a:xfrm>
          <a:prstGeom prst="rect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e6d204e033_1_16"/>
          <p:cNvSpPr/>
          <p:nvPr/>
        </p:nvSpPr>
        <p:spPr>
          <a:xfrm>
            <a:off x="5532120" y="1819656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With no history, the agent chose a </a:t>
            </a:r>
            <a:r>
              <a:rPr b="1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balanced opening</a:t>
            </a:r>
            <a:r>
              <a:rPr b="0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(4,4,2) to test the human while protecting against early aggression.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e6d204e033_1_16"/>
          <p:cNvSpPr/>
          <p:nvPr/>
        </p:nvSpPr>
        <p:spPr>
          <a:xfrm>
            <a:off x="5532120" y="3019656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The agent identified a repeated aggressive pattern and shifted to maximum survival (0,8,2), fully blocking the human's attack and restoring to full HP.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3e6d204e033_1_16"/>
          <p:cNvSpPr/>
          <p:nvPr/>
        </p:nvSpPr>
        <p:spPr>
          <a:xfrm>
            <a:off x="5532120" y="3619656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With an HP lead, the agent avoided unnecessary healing and chose (4,6,0) to preserve its advantage while exploiting the human's low defense.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3e6d204e033_1_16"/>
          <p:cNvSpPr/>
          <p:nvPr/>
        </p:nvSpPr>
        <p:spPr>
          <a:xfrm>
            <a:off x="5532120" y="4219656"/>
            <a:ext cx="338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Ahead on HP, the agent predicted a desperate all-in attack and selected (4,4,2) to absorb the hit and secure the win.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g3e6d204e033_1_16" title="Screenshot 2026-04-29 at 10.49.45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6400" y="1448575"/>
            <a:ext cx="4521000" cy="3518024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g3e6d204e033_1_16"/>
          <p:cNvSpPr/>
          <p:nvPr/>
        </p:nvSpPr>
        <p:spPr>
          <a:xfrm>
            <a:off x="5532120" y="2419656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After observing a high-attack human move, the agent adapted by increasing defense (3,6,1) to reduce incoming damage while still applying pressure.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3e6d204e033_1_16"/>
          <p:cNvSpPr/>
          <p:nvPr/>
        </p:nvSpPr>
        <p:spPr>
          <a:xfrm>
            <a:off x="4983480" y="2383080"/>
            <a:ext cx="457200" cy="457200"/>
          </a:xfrm>
          <a:prstGeom prst="rect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e6d204e033_1_16"/>
          <p:cNvSpPr/>
          <p:nvPr/>
        </p:nvSpPr>
        <p:spPr>
          <a:xfrm>
            <a:off x="4983480" y="2983080"/>
            <a:ext cx="457200" cy="457200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g3e6d204e033_1_16"/>
          <p:cNvSpPr/>
          <p:nvPr/>
        </p:nvSpPr>
        <p:spPr>
          <a:xfrm>
            <a:off x="4983480" y="3583080"/>
            <a:ext cx="457200" cy="457200"/>
          </a:xfrm>
          <a:prstGeom prst="rect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g3e6d204e033_1_16"/>
          <p:cNvSpPr/>
          <p:nvPr/>
        </p:nvSpPr>
        <p:spPr>
          <a:xfrm>
            <a:off x="4983480" y="4183080"/>
            <a:ext cx="457200" cy="457200"/>
          </a:xfrm>
          <a:prstGeom prst="rect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af5c64f8d_0_7"/>
          <p:cNvSpPr txBox="1"/>
          <p:nvPr>
            <p:ph idx="12" type="sldNum"/>
          </p:nvPr>
        </p:nvSpPr>
        <p:spPr>
          <a:xfrm>
            <a:off x="8686800" y="4754880"/>
            <a:ext cx="4572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2" name="Google Shape;182;g3daf5c64f8d_0_7"/>
          <p:cNvSpPr txBox="1"/>
          <p:nvPr/>
        </p:nvSpPr>
        <p:spPr>
          <a:xfrm>
            <a:off x="457200" y="639813"/>
            <a:ext cx="90432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Live Demo</a:t>
            </a:r>
            <a:endParaRPr b="1" sz="2600">
              <a:solidFill>
                <a:srgbClr val="1E276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3" name="Google Shape;183;g3daf5c64f8d_0_7"/>
          <p:cNvSpPr txBox="1"/>
          <p:nvPr/>
        </p:nvSpPr>
        <p:spPr>
          <a:xfrm>
            <a:off x="452200" y="1481675"/>
            <a:ext cx="7331400" cy="3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Current Implementation</a:t>
            </a:r>
            <a:endParaRPr b="1" sz="17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F1330"/>
              </a:buClr>
              <a:buSzPts val="1500"/>
              <a:buFont typeface="Calibri"/>
              <a:buChar char="●"/>
            </a:pPr>
            <a:r>
              <a:rPr b="1" lang="en-US" sz="17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Prisoner’s Dilemma - (Axelrod (1984))</a:t>
            </a:r>
            <a:endParaRPr b="1" sz="17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libri"/>
              <a:buChar char="●"/>
            </a:pPr>
            <a:r>
              <a:rPr b="1" lang="en-US" sz="17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Hunger Games </a:t>
            </a:r>
            <a:endParaRPr b="1" sz="17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libri"/>
              <a:buChar char="●"/>
            </a:pPr>
            <a:r>
              <a:rPr b="1" lang="en-US" sz="17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Are You the Traitor? - (Costarelli et al. (2024))</a:t>
            </a:r>
            <a:endParaRPr b="1" sz="17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Future Implementation</a:t>
            </a:r>
            <a:endParaRPr b="1" sz="17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libri"/>
              <a:buChar char="●"/>
            </a:pPr>
            <a:r>
              <a:rPr b="1" lang="en-US" sz="17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Two Rooms and a Boom - (Costarelli et al. (2024))</a:t>
            </a:r>
            <a:endParaRPr b="1" sz="17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libri"/>
              <a:buChar char="●"/>
            </a:pPr>
            <a:r>
              <a:rPr b="1" lang="en-US" sz="17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Werewolf -  (Xu et al. (2023); Zhu et al. (2023))</a:t>
            </a:r>
            <a:endParaRPr b="1" sz="17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libri"/>
              <a:buChar char="●"/>
            </a:pPr>
            <a:r>
              <a:rPr b="1" lang="en-US" sz="17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Resistance / Avalon - (Light et al. (2023) </a:t>
            </a:r>
            <a:r>
              <a:rPr b="1" i="1" lang="en-US" sz="17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AvalonBench; Lan et al. (2023))</a:t>
            </a:r>
            <a:endParaRPr b="1" i="1" sz="17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g3daf5c64f8d_0_7"/>
          <p:cNvSpPr/>
          <p:nvPr/>
        </p:nvSpPr>
        <p:spPr>
          <a:xfrm>
            <a:off x="349975" y="1385450"/>
            <a:ext cx="7731900" cy="3521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daf5c64f8d_0_7"/>
          <p:cNvSpPr txBox="1"/>
          <p:nvPr/>
        </p:nvSpPr>
        <p:spPr>
          <a:xfrm>
            <a:off x="550225" y="1385450"/>
            <a:ext cx="7331400" cy="3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Demo 1 – Prisoner’s Dilemma, Agent vs. Agent</a:t>
            </a:r>
            <a:endParaRPr b="1" sz="17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libri"/>
              <a:buChar char="●"/>
            </a:pPr>
            <a:r>
              <a:rPr lang="en-US" sz="17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python games/pd_agent_vs_agent.py --rounds 5</a:t>
            </a:r>
            <a:endParaRPr sz="17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Demo 2 – Hunger Games, Human vs. Agent</a:t>
            </a:r>
            <a:endParaRPr b="1" sz="17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libri"/>
              <a:buChar char="●"/>
            </a:pPr>
            <a:r>
              <a:rPr lang="en-US" sz="17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python games/hungergames_V1.py</a:t>
            </a:r>
            <a:endParaRPr sz="17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Demo 3 - Are You the Traitor?, Agent vs Agent (multi-agent game)</a:t>
            </a:r>
            <a:endParaRPr b="1" sz="17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Demo 4 – Strategic Error Localization and Across Game Reflection</a:t>
            </a:r>
            <a:endParaRPr b="1" sz="17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libri"/>
              <a:buChar char="●"/>
            </a:pPr>
            <a:r>
              <a:rPr lang="en-US" sz="17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python agent/judge_trace.py traces/******.json</a:t>
            </a:r>
            <a:endParaRPr sz="17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 sz="17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i="1" lang="en-US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Note: We are using </a:t>
            </a:r>
            <a:r>
              <a:rPr b="1" i="1" lang="en-US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GPT-4o </a:t>
            </a:r>
            <a:r>
              <a:rPr i="1" lang="en-US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for our demos</a:t>
            </a:r>
            <a:endParaRPr i="1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b="1" i="1" sz="17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e6ebc45ebb_2_0"/>
          <p:cNvSpPr/>
          <p:nvPr/>
        </p:nvSpPr>
        <p:spPr>
          <a:xfrm>
            <a:off x="457200" y="256032"/>
            <a:ext cx="2194560" cy="256032"/>
          </a:xfrm>
          <a:prstGeom prst="rect">
            <a:avLst/>
          </a:prstGeom>
          <a:solidFill>
            <a:srgbClr val="4A90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 BEHAVIOR</a:t>
            </a:r>
            <a:endParaRPr/>
          </a:p>
        </p:txBody>
      </p:sp>
      <p:sp>
        <p:nvSpPr>
          <p:cNvPr id="191" name="Google Shape;191;g3e6ebc45ebb_2_0"/>
          <p:cNvSpPr txBox="1"/>
          <p:nvPr/>
        </p:nvSpPr>
        <p:spPr>
          <a:xfrm>
            <a:off x="457200" y="5943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Prompt Framing: Surprising Agent Behavior</a:t>
            </a:r>
            <a:endParaRPr/>
          </a:p>
        </p:txBody>
      </p:sp>
      <p:sp>
        <p:nvSpPr>
          <p:cNvPr id="192" name="Google Shape;192;g3e6ebc45ebb_2_0"/>
          <p:cNvSpPr txBox="1"/>
          <p:nvPr/>
        </p:nvSpPr>
        <p:spPr>
          <a:xfrm>
            <a:off x="457200" y="1234440"/>
            <a:ext cx="8412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6B7A99"/>
                </a:solidFill>
                <a:latin typeface="Arial"/>
                <a:ea typeface="Arial"/>
                <a:cs typeface="Arial"/>
                <a:sym typeface="Arial"/>
              </a:rPr>
              <a:t>One line of prompt change </a:t>
            </a:r>
            <a:r>
              <a:rPr i="1" lang="en-US" sz="1200">
                <a:solidFill>
                  <a:srgbClr val="6B7A99"/>
                </a:solidFill>
              </a:rPr>
              <a:t>-</a:t>
            </a:r>
            <a:r>
              <a:rPr b="0" i="1" lang="en-US" sz="1200" u="none" cap="none" strike="noStrike">
                <a:solidFill>
                  <a:srgbClr val="6B7A99"/>
                </a:solidFill>
                <a:latin typeface="Arial"/>
                <a:ea typeface="Arial"/>
                <a:cs typeface="Arial"/>
                <a:sym typeface="Arial"/>
              </a:rPr>
              <a:t> completely different strategic behavior</a:t>
            </a:r>
            <a:endParaRPr/>
          </a:p>
        </p:txBody>
      </p:sp>
      <p:graphicFrame>
        <p:nvGraphicFramePr>
          <p:cNvPr id="193" name="Google Shape;193;g3e6ebc45ebb_2_0"/>
          <p:cNvGraphicFramePr/>
          <p:nvPr/>
        </p:nvGraphicFramePr>
        <p:xfrm>
          <a:off x="457200" y="166420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{8F2B8681-C8F2-438D-9F9F-6BE99E037E06}</a:tableStyleId>
              </a:tblPr>
              <a:tblGrid>
                <a:gridCol w="2743200"/>
                <a:gridCol w="3200400"/>
                <a:gridCol w="2468875"/>
              </a:tblGrid>
              <a:tr h="472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Prompt Framing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Agent Behavior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Outcome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761"/>
                    </a:solidFill>
                  </a:tcPr>
                </a:tc>
              </a:tr>
              <a:tr h="472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1E2761"/>
                          </a:solidFill>
                        </a:rPr>
                        <a:t>"Win at all costs"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1E2761"/>
                          </a:solidFill>
                        </a:rPr>
                        <a:t>Overly aggressive, ignores defensive play, chases wins recklessly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E74C3C"/>
                          </a:solidFill>
                        </a:rPr>
                        <a:t> Lost winnable games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0F0"/>
                    </a:solidFill>
                  </a:tcPr>
                </a:tc>
              </a:tr>
              <a:tr h="472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1E2761"/>
                          </a:solidFill>
                        </a:rPr>
                        <a:t>"Win, but avoid unnecessary losses"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1E2761"/>
                          </a:solidFill>
                        </a:rPr>
                        <a:t>Conservative and rational </a:t>
                      </a:r>
                      <a:r>
                        <a:rPr lang="en-US" sz="1100">
                          <a:solidFill>
                            <a:srgbClr val="1E2761"/>
                          </a:solidFill>
                        </a:rPr>
                        <a:t>-</a:t>
                      </a:r>
                      <a:r>
                        <a:rPr lang="en-US" sz="1100" u="none" cap="none" strike="noStrike">
                          <a:solidFill>
                            <a:srgbClr val="1E2761"/>
                          </a:solidFill>
                        </a:rPr>
                        <a:t> secures draws when win not guaranteed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ECC71"/>
                          </a:solidFill>
                        </a:rPr>
                        <a:t>Better overall results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FF4"/>
                    </a:solidFill>
                  </a:tcPr>
                </a:tc>
              </a:tr>
            </a:tbl>
          </a:graphicData>
        </a:graphic>
      </p:graphicFrame>
      <p:sp>
        <p:nvSpPr>
          <p:cNvPr id="194" name="Google Shape;194;g3e6ebc45ebb_2_0"/>
          <p:cNvSpPr/>
          <p:nvPr/>
        </p:nvSpPr>
        <p:spPr>
          <a:xfrm>
            <a:off x="457200" y="3246120"/>
            <a:ext cx="8412480" cy="1097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60000" lIns="130000" spcFirstLastPara="1" rIns="130000" wrap="square" tIns="9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What happened:  </a:t>
            </a:r>
            <a:r>
              <a:rPr lang="en-US" sz="1100">
                <a:solidFill>
                  <a:srgbClr val="1E2761"/>
                </a:solidFill>
              </a:rPr>
              <a:t>In our tests on</a:t>
            </a:r>
            <a:r>
              <a:rPr b="0" i="0" lang="en-US" sz="1100" u="none" cap="none" strike="noStrik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 Hunger Games, Prisoners Dillema and Are You the Traitor? </a:t>
            </a:r>
            <a:r>
              <a:rPr lang="en-US" sz="1100">
                <a:solidFill>
                  <a:srgbClr val="1E2761"/>
                </a:solidFill>
              </a:rPr>
              <a:t>u</a:t>
            </a:r>
            <a:r>
              <a:rPr b="0" i="0" lang="en-US" sz="1100" u="none" cap="none" strike="noStrik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nder "win at all costs," the agent made an all-in attack chasing the win and lost a game it would have drawn.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A90D9"/>
                </a:solidFill>
                <a:latin typeface="Arial"/>
                <a:ea typeface="Arial"/>
                <a:cs typeface="Arial"/>
                <a:sym typeface="Arial"/>
              </a:rPr>
              <a:t>Key takeaway:  </a:t>
            </a:r>
            <a:r>
              <a:rPr b="0" i="0" lang="en-US" sz="1100" u="none" cap="none" strike="noStrik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LLM agents are highly sensitive to how objectives are framed </a:t>
            </a:r>
            <a:r>
              <a:rPr lang="en-US" sz="1100">
                <a:solidFill>
                  <a:srgbClr val="1E2761"/>
                </a:solidFill>
              </a:rPr>
              <a:t>-</a:t>
            </a:r>
            <a:r>
              <a:rPr b="0" i="0" lang="en-US" sz="1100" u="none" cap="none" strike="noStrik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 not just what the objective is, but how it is worded.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e6bc1b5637_0_116"/>
          <p:cNvSpPr/>
          <p:nvPr/>
        </p:nvSpPr>
        <p:spPr>
          <a:xfrm>
            <a:off x="457200" y="594360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400"/>
              <a:buFont typeface="Calibri"/>
              <a:buNone/>
            </a:pPr>
            <a:r>
              <a:rPr b="1" lang="en-US" sz="34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Future Developments Planned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3e6bc1b5637_0_116"/>
          <p:cNvSpPr/>
          <p:nvPr/>
        </p:nvSpPr>
        <p:spPr>
          <a:xfrm>
            <a:off x="365760" y="1371600"/>
            <a:ext cx="2697600" cy="3200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e6bc1b5637_0_116"/>
          <p:cNvSpPr/>
          <p:nvPr/>
        </p:nvSpPr>
        <p:spPr>
          <a:xfrm>
            <a:off x="502920" y="1508760"/>
            <a:ext cx="2423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Testing Architectural Updates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3e6bc1b5637_0_116"/>
          <p:cNvSpPr/>
          <p:nvPr/>
        </p:nvSpPr>
        <p:spPr>
          <a:xfrm>
            <a:off x="3200413" y="1371600"/>
            <a:ext cx="2697600" cy="3200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e6bc1b5637_0_116"/>
          <p:cNvSpPr/>
          <p:nvPr/>
        </p:nvSpPr>
        <p:spPr>
          <a:xfrm>
            <a:off x="3406148" y="1508810"/>
            <a:ext cx="2423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Synthetic</a:t>
            </a:r>
            <a:r>
              <a:rPr b="1" lang="en-US" sz="15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Data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3e6bc1b5637_0_116"/>
          <p:cNvSpPr/>
          <p:nvPr/>
        </p:nvSpPr>
        <p:spPr>
          <a:xfrm>
            <a:off x="3337560" y="2651760"/>
            <a:ext cx="24231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3e6bc1b5637_0_116"/>
          <p:cNvSpPr/>
          <p:nvPr/>
        </p:nvSpPr>
        <p:spPr>
          <a:xfrm>
            <a:off x="6035040" y="1371600"/>
            <a:ext cx="2697600" cy="3200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e6bc1b5637_0_116"/>
          <p:cNvSpPr/>
          <p:nvPr/>
        </p:nvSpPr>
        <p:spPr>
          <a:xfrm>
            <a:off x="6205100" y="1452260"/>
            <a:ext cx="2423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Benchmark Testing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g3e6bc1b5637_0_116"/>
          <p:cNvSpPr txBox="1"/>
          <p:nvPr/>
        </p:nvSpPr>
        <p:spPr>
          <a:xfrm>
            <a:off x="548175" y="2101475"/>
            <a:ext cx="2200500" cy="22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05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Self-consistency sampling</a:t>
            </a:r>
            <a:r>
              <a:rPr lang="en-US" sz="105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 — run decision 3x, take majority vote (Wang et al.(2022))</a:t>
            </a:r>
            <a:endParaRPr sz="1050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b="1" lang="en-US" sz="115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05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Tree of Thoughts</a:t>
            </a:r>
            <a:r>
              <a:rPr lang="en-US" sz="105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 — explore multiple move paths before deciding (Yao et al. (2023))</a:t>
            </a:r>
            <a:endParaRPr sz="1050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05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LATS</a:t>
            </a:r>
            <a:r>
              <a:rPr lang="en-US" sz="105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 — Language Agent Tree Search for deep strategic lookahead (Zhou, A et al. (2024))</a:t>
            </a:r>
            <a:endParaRPr sz="1050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g3e6bc1b5637_0_116"/>
          <p:cNvSpPr txBox="1"/>
          <p:nvPr/>
        </p:nvSpPr>
        <p:spPr>
          <a:xfrm>
            <a:off x="3360188" y="2101475"/>
            <a:ext cx="2200500" cy="22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05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Self-play data collection</a:t>
            </a:r>
            <a:r>
              <a:rPr lang="en-US" sz="105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 — two agents generate reasoning trajectories; Fine-tune on good trajectories</a:t>
            </a:r>
            <a:endParaRPr sz="1050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g3e6bc1b5637_0_116"/>
          <p:cNvSpPr txBox="1"/>
          <p:nvPr/>
        </p:nvSpPr>
        <p:spPr>
          <a:xfrm>
            <a:off x="6205088" y="1920400"/>
            <a:ext cx="2200500" cy="22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115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Plug into</a:t>
            </a:r>
            <a:r>
              <a:rPr b="1" lang="en-US" sz="105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05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Game Reasoning Arena</a:t>
            </a:r>
            <a:r>
              <a:rPr lang="en-US" sz="105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 for benchmarking</a:t>
            </a:r>
            <a:r>
              <a:rPr lang="en-US" sz="105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050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105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 Testing agent in games that involve ‘talking’ to opponent agent before making a move</a:t>
            </a:r>
            <a:endParaRPr sz="1050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e6ebc45ebb_2_9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A90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3e6ebc45ebb_2_9"/>
          <p:cNvSpPr txBox="1"/>
          <p:nvPr/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Summary</a:t>
            </a:r>
            <a:endParaRPr/>
          </a:p>
        </p:txBody>
      </p:sp>
      <p:sp>
        <p:nvSpPr>
          <p:cNvPr id="217" name="Google Shape;217;g3e6ebc45ebb_2_9"/>
          <p:cNvSpPr/>
          <p:nvPr/>
        </p:nvSpPr>
        <p:spPr>
          <a:xfrm>
            <a:off x="365760" y="1371600"/>
            <a:ext cx="2743200" cy="3566160"/>
          </a:xfrm>
          <a:prstGeom prst="rect">
            <a:avLst/>
          </a:prstGeom>
          <a:solidFill>
            <a:srgbClr val="283270"/>
          </a:solidFill>
          <a:ln cap="flat" cmpd="sng" w="9525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g3e6ebc45ebb_2_9"/>
          <p:cNvSpPr/>
          <p:nvPr/>
        </p:nvSpPr>
        <p:spPr>
          <a:xfrm>
            <a:off x="365760" y="1371600"/>
            <a:ext cx="2743200" cy="64008"/>
          </a:xfrm>
          <a:prstGeom prst="rect">
            <a:avLst/>
          </a:prstGeom>
          <a:solidFill>
            <a:srgbClr val="4A90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3e6ebc45ebb_2_9"/>
          <p:cNvSpPr txBox="1"/>
          <p:nvPr/>
        </p:nvSpPr>
        <p:spPr>
          <a:xfrm>
            <a:off x="502920" y="1508760"/>
            <a:ext cx="24871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A90D9"/>
                </a:solidFill>
                <a:latin typeface="Arial"/>
                <a:ea typeface="Arial"/>
                <a:cs typeface="Arial"/>
                <a:sym typeface="Arial"/>
              </a:rPr>
              <a:t>What We Built</a:t>
            </a:r>
            <a:endParaRPr/>
          </a:p>
        </p:txBody>
      </p:sp>
      <p:sp>
        <p:nvSpPr>
          <p:cNvPr id="220" name="Google Shape;220;g3e6ebc45ebb_2_9"/>
          <p:cNvSpPr/>
          <p:nvPr/>
        </p:nvSpPr>
        <p:spPr>
          <a:xfrm>
            <a:off x="530352" y="2011680"/>
            <a:ext cx="73152" cy="73152"/>
          </a:xfrm>
          <a:prstGeom prst="ellipse">
            <a:avLst/>
          </a:prstGeom>
          <a:solidFill>
            <a:srgbClr val="4A90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3e6ebc45ebb_2_9"/>
          <p:cNvSpPr txBox="1"/>
          <p:nvPr/>
        </p:nvSpPr>
        <p:spPr>
          <a:xfrm>
            <a:off x="685800" y="1938528"/>
            <a:ext cx="23316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General Purpose ReAct agent with 2 mem</a:t>
            </a:r>
            <a:r>
              <a:rPr lang="en-US" sz="1050">
                <a:solidFill>
                  <a:srgbClr val="CADCFC"/>
                </a:solidFill>
              </a:rPr>
              <a:t>ory layers</a:t>
            </a:r>
            <a:r>
              <a:rPr b="0" i="0" lang="en-US" sz="105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 — same brain, any game</a:t>
            </a:r>
            <a:endParaRPr/>
          </a:p>
        </p:txBody>
      </p:sp>
      <p:sp>
        <p:nvSpPr>
          <p:cNvPr id="222" name="Google Shape;222;g3e6ebc45ebb_2_9"/>
          <p:cNvSpPr/>
          <p:nvPr/>
        </p:nvSpPr>
        <p:spPr>
          <a:xfrm>
            <a:off x="530352" y="2670048"/>
            <a:ext cx="73152" cy="73152"/>
          </a:xfrm>
          <a:prstGeom prst="ellipse">
            <a:avLst/>
          </a:prstGeom>
          <a:solidFill>
            <a:srgbClr val="4A90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3e6ebc45ebb_2_9"/>
          <p:cNvSpPr txBox="1"/>
          <p:nvPr/>
        </p:nvSpPr>
        <p:spPr>
          <a:xfrm>
            <a:off x="685800" y="2596896"/>
            <a:ext cx="23316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ADCFC"/>
                </a:solidFill>
              </a:rPr>
              <a:t>Implemented and tested on </a:t>
            </a:r>
            <a:r>
              <a:rPr b="0" i="0" lang="en-US" sz="105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Prisoner's Dilemma, Hunger Games, Are You the Traitor?</a:t>
            </a:r>
            <a:endParaRPr/>
          </a:p>
        </p:txBody>
      </p:sp>
      <p:sp>
        <p:nvSpPr>
          <p:cNvPr id="224" name="Google Shape;224;g3e6ebc45ebb_2_9"/>
          <p:cNvSpPr/>
          <p:nvPr/>
        </p:nvSpPr>
        <p:spPr>
          <a:xfrm>
            <a:off x="530352" y="3328416"/>
            <a:ext cx="73152" cy="73152"/>
          </a:xfrm>
          <a:prstGeom prst="ellipse">
            <a:avLst/>
          </a:prstGeom>
          <a:solidFill>
            <a:srgbClr val="4A90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g3e6ebc45ebb_2_9"/>
          <p:cNvSpPr txBox="1"/>
          <p:nvPr/>
        </p:nvSpPr>
        <p:spPr>
          <a:xfrm>
            <a:off x="685800" y="3255264"/>
            <a:ext cx="23316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ADCFC"/>
                </a:solidFill>
              </a:rPr>
              <a:t>Modified error localization framework with LLM as a judge to catch reasoning level errors</a:t>
            </a:r>
            <a:endParaRPr/>
          </a:p>
        </p:txBody>
      </p:sp>
      <p:sp>
        <p:nvSpPr>
          <p:cNvPr id="226" name="Google Shape;226;g3e6ebc45ebb_2_9"/>
          <p:cNvSpPr/>
          <p:nvPr/>
        </p:nvSpPr>
        <p:spPr>
          <a:xfrm>
            <a:off x="3273552" y="1371600"/>
            <a:ext cx="2743200" cy="3566160"/>
          </a:xfrm>
          <a:prstGeom prst="rect">
            <a:avLst/>
          </a:prstGeom>
          <a:solidFill>
            <a:srgbClr val="283270"/>
          </a:solidFill>
          <a:ln cap="flat" cmpd="sng" w="9525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3e6ebc45ebb_2_9"/>
          <p:cNvSpPr/>
          <p:nvPr/>
        </p:nvSpPr>
        <p:spPr>
          <a:xfrm>
            <a:off x="3273552" y="1371600"/>
            <a:ext cx="2743200" cy="64008"/>
          </a:xfrm>
          <a:prstGeom prst="rect">
            <a:avLst/>
          </a:prstGeom>
          <a:solidFill>
            <a:srgbClr val="2ECC7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3e6ebc45ebb_2_9"/>
          <p:cNvSpPr txBox="1"/>
          <p:nvPr/>
        </p:nvSpPr>
        <p:spPr>
          <a:xfrm>
            <a:off x="3410712" y="1508760"/>
            <a:ext cx="24871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ECC71"/>
                </a:solidFill>
                <a:latin typeface="Arial"/>
                <a:ea typeface="Arial"/>
                <a:cs typeface="Arial"/>
                <a:sym typeface="Arial"/>
              </a:rPr>
              <a:t>What We Found</a:t>
            </a:r>
            <a:endParaRPr/>
          </a:p>
        </p:txBody>
      </p:sp>
      <p:sp>
        <p:nvSpPr>
          <p:cNvPr id="229" name="Google Shape;229;g3e6ebc45ebb_2_9"/>
          <p:cNvSpPr/>
          <p:nvPr/>
        </p:nvSpPr>
        <p:spPr>
          <a:xfrm>
            <a:off x="3438144" y="2011680"/>
            <a:ext cx="73152" cy="73152"/>
          </a:xfrm>
          <a:prstGeom prst="ellipse">
            <a:avLst/>
          </a:prstGeom>
          <a:solidFill>
            <a:srgbClr val="2ECC7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g3e6ebc45ebb_2_9"/>
          <p:cNvSpPr txBox="1"/>
          <p:nvPr/>
        </p:nvSpPr>
        <p:spPr>
          <a:xfrm>
            <a:off x="3593592" y="1938528"/>
            <a:ext cx="2331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ADCFC"/>
                </a:solidFill>
              </a:rPr>
              <a:t>Prompt framing significantly changes strategic behavior</a:t>
            </a:r>
            <a:endParaRPr/>
          </a:p>
        </p:txBody>
      </p:sp>
      <p:sp>
        <p:nvSpPr>
          <p:cNvPr id="231" name="Google Shape;231;g3e6ebc45ebb_2_9"/>
          <p:cNvSpPr/>
          <p:nvPr/>
        </p:nvSpPr>
        <p:spPr>
          <a:xfrm>
            <a:off x="3438144" y="2670048"/>
            <a:ext cx="73152" cy="73152"/>
          </a:xfrm>
          <a:prstGeom prst="ellipse">
            <a:avLst/>
          </a:prstGeom>
          <a:solidFill>
            <a:srgbClr val="2ECC7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g3e6ebc45ebb_2_9"/>
          <p:cNvSpPr txBox="1"/>
          <p:nvPr/>
        </p:nvSpPr>
        <p:spPr>
          <a:xfrm>
            <a:off x="3593592" y="2596896"/>
            <a:ext cx="23316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50">
                <a:solidFill>
                  <a:srgbClr val="CADCFC"/>
                </a:solidFill>
              </a:rPr>
              <a:t>Two-level reflection memory (within game &amp; across game) reduces repeated mistakes</a:t>
            </a:r>
            <a:endParaRPr/>
          </a:p>
        </p:txBody>
      </p:sp>
      <p:sp>
        <p:nvSpPr>
          <p:cNvPr id="233" name="Google Shape;233;g3e6ebc45ebb_2_9"/>
          <p:cNvSpPr/>
          <p:nvPr/>
        </p:nvSpPr>
        <p:spPr>
          <a:xfrm>
            <a:off x="6181344" y="1371600"/>
            <a:ext cx="2743200" cy="3566160"/>
          </a:xfrm>
          <a:prstGeom prst="rect">
            <a:avLst/>
          </a:prstGeom>
          <a:solidFill>
            <a:srgbClr val="283270"/>
          </a:solidFill>
          <a:ln cap="flat" cmpd="sng" w="9525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3e6ebc45ebb_2_9"/>
          <p:cNvSpPr/>
          <p:nvPr/>
        </p:nvSpPr>
        <p:spPr>
          <a:xfrm>
            <a:off x="6181344" y="1371600"/>
            <a:ext cx="2743200" cy="64008"/>
          </a:xfrm>
          <a:prstGeom prst="rect">
            <a:avLst/>
          </a:prstGeom>
          <a:solidFill>
            <a:srgbClr val="F39C1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3e6ebc45ebb_2_9"/>
          <p:cNvSpPr txBox="1"/>
          <p:nvPr/>
        </p:nvSpPr>
        <p:spPr>
          <a:xfrm>
            <a:off x="6318504" y="1508760"/>
            <a:ext cx="24871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39C12"/>
                </a:solidFill>
                <a:latin typeface="Arial"/>
                <a:ea typeface="Arial"/>
                <a:cs typeface="Arial"/>
                <a:sym typeface="Arial"/>
              </a:rPr>
              <a:t>What's Next</a:t>
            </a:r>
            <a:endParaRPr/>
          </a:p>
        </p:txBody>
      </p:sp>
      <p:sp>
        <p:nvSpPr>
          <p:cNvPr id="236" name="Google Shape;236;g3e6ebc45ebb_2_9"/>
          <p:cNvSpPr/>
          <p:nvPr/>
        </p:nvSpPr>
        <p:spPr>
          <a:xfrm>
            <a:off x="6345936" y="2011680"/>
            <a:ext cx="73152" cy="73152"/>
          </a:xfrm>
          <a:prstGeom prst="ellipse">
            <a:avLst/>
          </a:prstGeom>
          <a:solidFill>
            <a:srgbClr val="F39C1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g3e6ebc45ebb_2_9"/>
          <p:cNvSpPr txBox="1"/>
          <p:nvPr/>
        </p:nvSpPr>
        <p:spPr>
          <a:xfrm>
            <a:off x="6501384" y="1938528"/>
            <a:ext cx="23316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50">
                <a:solidFill>
                  <a:srgbClr val="CADCFC"/>
                </a:solidFill>
              </a:rPr>
              <a:t>Testing agent on games involving agents talking to each other before making a move</a:t>
            </a:r>
            <a:endParaRPr/>
          </a:p>
        </p:txBody>
      </p:sp>
      <p:sp>
        <p:nvSpPr>
          <p:cNvPr id="238" name="Google Shape;238;g3e6ebc45ebb_2_9"/>
          <p:cNvSpPr/>
          <p:nvPr/>
        </p:nvSpPr>
        <p:spPr>
          <a:xfrm>
            <a:off x="6345936" y="2670048"/>
            <a:ext cx="73152" cy="73152"/>
          </a:xfrm>
          <a:prstGeom prst="ellipse">
            <a:avLst/>
          </a:prstGeom>
          <a:solidFill>
            <a:srgbClr val="F39C1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g3e6ebc45ebb_2_9"/>
          <p:cNvSpPr txBox="1"/>
          <p:nvPr/>
        </p:nvSpPr>
        <p:spPr>
          <a:xfrm>
            <a:off x="6501384" y="2596896"/>
            <a:ext cx="2331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1050">
                <a:solidFill>
                  <a:srgbClr val="CADCFC"/>
                </a:solidFill>
              </a:rPr>
              <a:t>esting architecture updates mentioned on slide 12</a:t>
            </a:r>
            <a:endParaRPr/>
          </a:p>
        </p:txBody>
      </p:sp>
      <p:sp>
        <p:nvSpPr>
          <p:cNvPr id="240" name="Google Shape;240;g3e6ebc45ebb_2_9"/>
          <p:cNvSpPr/>
          <p:nvPr/>
        </p:nvSpPr>
        <p:spPr>
          <a:xfrm>
            <a:off x="6345936" y="3328416"/>
            <a:ext cx="73152" cy="73152"/>
          </a:xfrm>
          <a:prstGeom prst="ellipse">
            <a:avLst/>
          </a:prstGeom>
          <a:solidFill>
            <a:srgbClr val="F39C1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g3e6ebc45ebb_2_9"/>
          <p:cNvSpPr txBox="1"/>
          <p:nvPr/>
        </p:nvSpPr>
        <p:spPr>
          <a:xfrm>
            <a:off x="6501384" y="3255264"/>
            <a:ext cx="2331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Plug agent into </a:t>
            </a:r>
            <a:r>
              <a:rPr b="0" i="0" lang="en-US" sz="105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Game Reasoning Arena</a:t>
            </a:r>
            <a:r>
              <a:rPr b="0" i="0" lang="en-US" sz="105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 for benchmarking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"/>
          <p:cNvSpPr txBox="1"/>
          <p:nvPr>
            <p:ph idx="12" type="sldNum"/>
          </p:nvPr>
        </p:nvSpPr>
        <p:spPr>
          <a:xfrm>
            <a:off x="8686800" y="4754880"/>
            <a:ext cx="4572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2024-08-09T18:28:47Z</dcterms:created>
  <dc:creator>Cardoza, Katherine</dc:creator>
</cp:coreProperties>
</file>